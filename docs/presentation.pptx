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926080" cy="41148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🏆 COMPETITION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  <a:latin typeface="Segoe UI"/>
              </a:defRPr>
            </a:pPr>
            <a:r>
              <a:t>Rail Anomaly Detection System</a:t>
            </a:r>
          </a:p>
          <a:p>
            <a:pPr>
              <a:spcBef>
                <a:spcPts val="1000"/>
              </a:spcBef>
              <a:defRPr sz="1800">
                <a:solidFill>
                  <a:srgbClr val="06B6D4"/>
                </a:solidFill>
                <a:latin typeface="Segoe UI"/>
              </a:defRPr>
            </a:pPr>
            <a:r>
              <a:t>Real-Time Embedded Edge AI on STM32N6570-DK with Neural-ART™ &amp; μT-Kernel 3.0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468880" cy="118872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MODEL</a:t>
            </a:r>
          </a:p>
          <a:p>
            <a:pPr>
              <a:spcBef>
                <a:spcPts val="400"/>
              </a:spcBef>
              <a:defRPr sz="2000" b="1">
                <a:solidFill>
                  <a:srgbClr val="F1F5F9"/>
                </a:solidFill>
                <a:latin typeface="Segoe UI"/>
              </a:defRPr>
            </a:pPr>
            <a:r>
              <a:t>YOLOv8n INT8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931920"/>
            <a:ext cx="2468880" cy="118872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RTOS</a:t>
            </a:r>
          </a:p>
          <a:p>
            <a:pPr>
              <a:spcBef>
                <a:spcPts val="400"/>
              </a:spcBef>
              <a:defRPr sz="2000" b="1">
                <a:solidFill>
                  <a:srgbClr val="F1F5F9"/>
                </a:solidFill>
                <a:latin typeface="Segoe UI"/>
              </a:defRPr>
            </a:pPr>
            <a:r>
              <a:t>μT-Kernel 3.0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2468880" cy="11887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NPU</a:t>
            </a:r>
          </a:p>
          <a:p>
            <a:pPr>
              <a:spcBef>
                <a:spcPts val="400"/>
              </a:spcBef>
              <a:defRPr sz="2000" b="1">
                <a:solidFill>
                  <a:srgbClr val="F1F5F9"/>
                </a:solidFill>
                <a:latin typeface="Segoe UI"/>
              </a:defRPr>
            </a:pPr>
            <a:r>
              <a:t>Neural-ART™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3931920"/>
            <a:ext cx="2468880" cy="118872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THROUGHPUT</a:t>
            </a:r>
          </a:p>
          <a:p>
            <a:pPr>
              <a:spcBef>
                <a:spcPts val="400"/>
              </a:spcBef>
              <a:defRPr sz="2000" b="1">
                <a:solidFill>
                  <a:srgbClr val="F1F5F9"/>
                </a:solidFill>
                <a:latin typeface="Segoe UI"/>
              </a:defRPr>
            </a:pPr>
            <a:r>
              <a:t>&gt;20 FPS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Segoe UI"/>
              </a:rPr>
              <a:t>Railway Safety Requires </a:t>
            </a:r>
            <a:r>
              <a:rPr sz="2600" b="1">
                <a:solidFill>
                  <a:srgbClr val="3B82F6"/>
                </a:solidFill>
                <a:latin typeface="Segoe UI"/>
              </a:rPr>
              <a:t>Automated Real-Time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🔩 Fastener Defects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Missing or loose rail fasteners cause track geometry shift and derailment hazard.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⚡ Rail Surface Cracks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Fatigue cracks expand dynamically under axle loads. Early detection avoids fractures.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2900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🚧 Track Obstacles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Debris, rockfalls, or foreign objects require low-latency alerts before collision.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698480" cy="1645920"/>
          </a:xfrm>
          <a:prstGeom prst="roundRect">
            <a:avLst/>
          </a:prstGeom>
          <a:solidFill>
            <a:srgbClr val="1E2A3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🎯 The Engineering Challenge: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Traditional track inspection relies on manual walking surveys or specialized heavy test cars that run only every few months. Our goal is an autonomous, ultra-low-power, trackside Edge-AI unit that executes continuous inferencing on embedded silicon with zero cloud or PC dependency.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ARCHITECTURE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Segoe UI"/>
              </a:rPr>
              <a:t>Fully Embedded Edge AI on </a:t>
            </a:r>
            <a:r>
              <a:rPr sz="2600" b="1">
                <a:solidFill>
                  <a:srgbClr val="3B82F6"/>
                </a:solidFill>
                <a:latin typeface="Segoe UI"/>
              </a:rPr>
              <a:t>STM32N6570-DK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1600" b="1">
                <a:solidFill>
                  <a:srgbClr val="F1F5F9"/>
                </a:solidFill>
                <a:latin typeface="Segoe UI"/>
              </a:defRPr>
            </a:pPr>
            <a:r>
              <a:t>Camera Frame Input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320×320 RGB stream buffered in internal SRAM/PSRAM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1600" b="1">
                <a:solidFill>
                  <a:srgbClr val="F1F5F9"/>
                </a:solidFill>
                <a:latin typeface="Segoe UI"/>
              </a:defRPr>
            </a:pPr>
            <a:r>
              <a:t>Neural-ART™ NPU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YOLOv8n INT8 model inference in ~22ms without loading CPU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1600" b="1">
                <a:solidFill>
                  <a:srgbClr val="F1F5F9"/>
                </a:solidFill>
                <a:latin typeface="Segoe UI"/>
              </a:defRPr>
            </a:pPr>
            <a:r>
              <a:t>Cortex-M55 Core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Tensor decoding, IoU Non-Maximum Suppression &amp; anomaly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STEP 4</a:t>
            </a:r>
          </a:p>
          <a:p>
            <a:pPr>
              <a:spcBef>
                <a:spcPts val="800"/>
              </a:spcBef>
              <a:defRPr sz="1600" b="1">
                <a:solidFill>
                  <a:srgbClr val="F1F5F9"/>
                </a:solidFill>
                <a:latin typeface="Segoe UI"/>
              </a:defRPr>
            </a:pPr>
            <a:r>
              <a:t>Telemetry &amp; Alerts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High-speed UART JSON streaming to Web Dashboard and status LEDs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RTOS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Segoe UI"/>
              </a:rPr>
              <a:t>Deterministic Multitasking with </a:t>
            </a:r>
            <a:r>
              <a:rPr sz="2600" b="1">
                <a:solidFill>
                  <a:srgbClr val="3B82F6"/>
                </a:solidFill>
                <a:latin typeface="Segoe UI"/>
              </a:rPr>
              <a:t>μT-Kernel 3.0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CameraTask (Pri 4)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Segoe UI"/>
              </a:defRPr>
            </a:pPr>
            <a:r>
              <a:t>Frame Capture &amp; Preprocessing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High priority capture routine</a:t>
            </a:r>
            <a:br/>
            <a:r>
              <a:t>• Normalizes RGB tensor to float32 [0.0, 1.0]</a:t>
            </a:r>
            <a:br/>
            <a:r>
              <a:t>• Releases semaphore to trigger InferenceTask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InferenceTask (Pri 5)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Segoe UI"/>
              </a:defRPr>
            </a:pPr>
            <a:r>
              <a:t>NPU Execution &amp; Post-Processing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Executes stai_network_run() on Neural-ART</a:t>
            </a:r>
            <a:br/>
            <a:r>
              <a:t>• Decodes 8400 bounding boxes</a:t>
            </a:r>
            <a:br/>
            <a:r>
              <a:t>• Fast NMS suppression on Cortex-M55 core</a:t>
            </a:r>
            <a:br/>
            <a:r>
              <a:t>• Enqueues alert packet to mailbox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2900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AlertTask (Pri 6)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Segoe UI"/>
              </a:defRPr>
            </a:pPr>
            <a:r>
              <a:t>Telemetry &amp; Actuation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Reads mailbox asynchronously</a:t>
            </a:r>
            <a:br/>
            <a:r>
              <a:t>• Dispatches structured JSON packets over UART</a:t>
            </a:r>
            <a:br/>
            <a:r>
              <a:t>• Toggles onboard alert LEDs for trackside visibility</a:t>
            </a:r>
            <a:br/>
            <a:r>
              <a:t>• Feeds watchdog timer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MODEL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Segoe UI"/>
              </a:rPr>
              <a:t>From Dataset to Embedded </a:t>
            </a:r>
            <a:r>
              <a:rPr sz="2600" b="1">
                <a:solidFill>
                  <a:srgbClr val="3B82F6"/>
                </a:solidFill>
                <a:latin typeface="Segoe UI"/>
              </a:rPr>
              <a:t>INT8 Quantization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Pipeline Stages</a:t>
            </a:r>
          </a:p>
          <a:p>
            <a:pPr>
              <a:spcBef>
                <a:spcPts val="1000"/>
              </a:spcBef>
              <a:defRPr sz="1250">
                <a:solidFill>
                  <a:srgbClr val="F1F5F9"/>
                </a:solidFill>
                <a:latin typeface="Segoe UI"/>
              </a:defRPr>
            </a:pPr>
            <a:r>
              <a:t>1. Dataset Curation: 7,495 merged railway images (CC BY 4.0)</a:t>
            </a:r>
            <a:br/>
            <a:br/>
            <a:r>
              <a:t>2. Architecture Selection: YOLOv8n (nano, ~3.2M params) tuned for track anomalies</a:t>
            </a:r>
            <a:br/>
            <a:br/>
            <a:r>
              <a:t>3. PyTorch Training: 100 epochs, 320×320 resolution, AdamW optimizer</a:t>
            </a:r>
            <a:br/>
            <a:br/>
            <a:r>
              <a:t>4. ONNX Simplification: Operator folding &amp; constant propagation</a:t>
            </a:r>
            <a:br/>
            <a:br/>
            <a:r>
              <a:t>5. ST Edge AI Core: INT8 post-training quantization &amp; weight packing (0x71000000)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3776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Dataset Composition &amp; Benchmarks</a:t>
            </a:r>
          </a:p>
          <a:p>
            <a:pPr>
              <a:spcBef>
                <a:spcPts val="10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• Railway Crack Detection: 2,847 images (Crack class)</a:t>
            </a:r>
            <a:br/>
            <a:r>
              <a:t>• Track Surface Defects: 1,923 images (Rail Defect class)</a:t>
            </a:r>
            <a:br/>
            <a:r>
              <a:t>• Fixações Trilhos: 1,204 images (Fastener Defect class)</a:t>
            </a:r>
            <a:br/>
            <a:r>
              <a:t>• Obstacle Detection: 1,521 images (Obstacle class)</a:t>
            </a:r>
            <a:br/>
            <a:br/>
            <a:r>
              <a:t>Total Training Corpus: 7,495 annotated frames</a:t>
            </a:r>
            <a:br/>
            <a:r>
              <a:t>Mean Average Precision (mAP@0.5): 72.3%</a:t>
            </a:r>
            <a:br/>
            <a:r>
              <a:t>Quantized INT8 Model Footprint: 11.5 MB</a:t>
            </a:r>
            <a:br/>
            <a:r>
              <a:t>Target Platform: On-board OctoSPI Flash (0x71000000)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LIVE BOARD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Segoe UI"/>
              </a:rPr>
              <a:t>Standalone Execution &amp; </a:t>
            </a:r>
            <a:r>
              <a:rPr sz="2600" b="1">
                <a:solidFill>
                  <a:srgbClr val="3B82F6"/>
                </a:solidFill>
                <a:latin typeface="Segoe UI"/>
              </a:rPr>
              <a:t>High-Speed UART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UART Boot &amp; Detection Output</a:t>
            </a:r>
          </a:p>
          <a:p>
            <a:pPr>
              <a:spcBef>
                <a:spcPts val="800"/>
              </a:spcBef>
              <a:defRPr sz="1100">
                <a:solidFill>
                  <a:srgbClr val="10B981"/>
                </a:solidFill>
                <a:latin typeface="Consolas"/>
              </a:defRPr>
            </a:pPr>
            <a:r>
              <a:t>[FSBL] PSRAM 0x90000000: Mapped &amp; Tested OK!</a:t>
            </a:r>
            <a:br/>
            <a:r>
              <a:t>FSBL v10-ready</a:t>
            </a:r>
            <a:br/>
            <a:r>
              <a:t>Copy from 0x70100400 to 0x34000000</a:t>
            </a:r>
            <a:br/>
            <a:r>
              <a:t>Jumping to application...</a:t>
            </a:r>
            <a:br/>
            <a:r>
              <a:t>microT-Kernel Version 3.00</a:t>
            </a:r>
            <a:br/>
            <a:r>
              <a:t>=== Rail Anomaly Detection v1.2 ===</a:t>
            </a:r>
            <a:br/>
            <a:r>
              <a:t>[Camera] Task started</a:t>
            </a:r>
            <a:br/>
            <a:r>
              <a:t>[NPU] Hardware initialized successfully</a:t>
            </a:r>
            <a:br/>
            <a:r>
              <a:t>[Inference] LL-ATON Ready. Starting live loop...</a:t>
            </a:r>
            <a:br/>
            <a:br/>
            <a:r>
              <a:t>{"class":"crack","conf":0.93,"x1":45.2,"y1":120.0}</a:t>
            </a:r>
            <a:br/>
            <a:r>
              <a:t>{"class":"obstacle","conf":0.87,"x1":12.0,"y1":33.0}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Key Operational Highlights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✓ Zero PC Dependency: NPU executes standalone on the STM32N6570 Discovery Kit.</a:t>
            </a:r>
            <a:br/>
            <a:br/>
            <a:r>
              <a:t>✓ Microsecond Determinism: μT-Kernel 3.0 preemptive scheduler guarantees strict execution windows.</a:t>
            </a:r>
            <a:br/>
            <a:br/>
            <a:r>
              <a:t>✓ Low Latency Stream: Structured JSON records emitted every inference cycle for central track management.</a:t>
            </a:r>
            <a:br/>
            <a:br/>
            <a:r>
              <a:t>✓ Autonomous Failsafe: Status LEDs and hardware watchdog automatically alert on track anomalies.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Segoe UI"/>
              </a:rPr>
              <a:t>Benchmark &amp; Performance </a:t>
            </a:r>
            <a:r>
              <a:rPr sz="2600" b="1">
                <a:solidFill>
                  <a:srgbClr val="3B82F6"/>
                </a:solidFill>
                <a:latin typeface="Segoe UI"/>
              </a:rPr>
              <a:t>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  <a:latin typeface="Segoe UI"/>
              </a:defRPr>
            </a:pPr>
            <a:r>
              <a:t>Inference Latency</a:t>
            </a:r>
          </a:p>
          <a:p>
            <a:pPr>
              <a:spcBef>
                <a:spcPts val="3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22 – 30 ms  —  Achieved on Neural-ART NPU hardware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1208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  <a:latin typeface="Segoe UI"/>
              </a:defRPr>
            </a:pPr>
            <a:r>
              <a:t>Inference Throughput</a:t>
            </a:r>
          </a:p>
          <a:p>
            <a:pPr>
              <a:spcBef>
                <a:spcPts val="3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&gt;20 FPS  —  Real-time continuous video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21208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  <a:latin typeface="Segoe UI"/>
              </a:defRPr>
            </a:pPr>
            <a:r>
              <a:t>SRAM Memory Footprint</a:t>
            </a:r>
          </a:p>
          <a:p>
            <a:pPr>
              <a:spcBef>
                <a:spcPts val="3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~1.5 MB  —  Well below STM32N6 4.2 MB internal limit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063240"/>
            <a:ext cx="521208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  <a:latin typeface="Segoe UI"/>
              </a:defRPr>
            </a:pPr>
            <a:r>
              <a:t>Model Flash Size</a:t>
            </a:r>
          </a:p>
          <a:p>
            <a:pPr>
              <a:spcBef>
                <a:spcPts val="3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11.5 MB INT8  —  Fits comfortably in 128 MB OctoSPI NOR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521208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  <a:latin typeface="Segoe UI"/>
              </a:defRPr>
            </a:pPr>
            <a:r>
              <a:t>Power Dissipation</a:t>
            </a:r>
          </a:p>
          <a:p>
            <a:pPr>
              <a:spcBef>
                <a:spcPts val="3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~250 mW active  —  Ideal for trackside solar / energy harvesting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480560"/>
            <a:ext cx="521208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  <a:latin typeface="Segoe UI"/>
              </a:defRPr>
            </a:pPr>
            <a:r>
              <a:t>Cold Boot to Inferencing</a:t>
            </a:r>
          </a:p>
          <a:p>
            <a:pPr>
              <a:spcBef>
                <a:spcPts val="3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&lt; 3.0 seconds  —  Fast boot from external OctoSPI flash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MONITORING &amp;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Segoe UI"/>
              </a:rPr>
              <a:t>Real-Time PC </a:t>
            </a:r>
            <a:r>
              <a:rPr sz="2600" b="1">
                <a:solidFill>
                  <a:srgbClr val="3B82F6"/>
                </a:solidFill>
                <a:latin typeface="Segoe UI"/>
              </a:rPr>
              <a:t>Web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Python Flask &amp; High-Speed UART Serial Bridge</a:t>
            </a:r>
          </a:p>
          <a:p>
            <a:pPr>
              <a:spcBef>
                <a:spcPts val="1400"/>
              </a:spcBef>
              <a:defRPr sz="1350">
                <a:solidFill>
                  <a:srgbClr val="F1F5F9"/>
                </a:solidFill>
                <a:latin typeface="Segoe UI"/>
              </a:defRPr>
            </a:pPr>
            <a:r>
              <a:t>• Real-Time WebSocket / SSE Streaming: Renders live detections without page reloads</a:t>
            </a:r>
            <a:br/>
            <a:br/>
            <a:r>
              <a:t>• Multi-Class Counter: Segregates detections into Crack, Rail Defect, Fastener, Obstacle</a:t>
            </a:r>
            <a:br/>
            <a:br/>
            <a:r>
              <a:t>• 60-Second Temporal Rolling Chart: Tracks detection confidence frequency over time</a:t>
            </a:r>
            <a:br/>
            <a:br/>
            <a:r>
              <a:t>• Audit Logging: Generates ISO-timestamped incident logs for maintenance dispatch</a:t>
            </a:r>
            <a:br/>
            <a:br/>
            <a:r>
              <a:t>• Simple 2-Command Launch: python bridge.py --port COM9 &amp;&amp; python dashboard/app.py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Segoe UI"/>
              </a:rPr>
              <a:t>Complete Submission </a:t>
            </a:r>
            <a:r>
              <a:rPr sz="2600" b="1">
                <a:solidFill>
                  <a:srgbClr val="3B82F6"/>
                </a:solidFill>
                <a:latin typeface="Segoe UI"/>
              </a:rPr>
              <a:t>Repository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📂 Firmware (C)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main_task.c (RTOS tasks)</a:t>
            </a:r>
            <a:br/>
            <a:r>
              <a:t>• yolo_parser.c (NMS/decode)</a:t>
            </a:r>
            <a:br/>
            <a:r>
              <a:t>• board_camera.c (driver)</a:t>
            </a:r>
            <a:br/>
            <a:r>
              <a:t>• stm32n6xx hal drivers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🐍 Python Tools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train.py (YOLOv8 pipeline)</a:t>
            </a:r>
            <a:br/>
            <a:r>
              <a:t>• merge_datasets.py</a:t>
            </a:r>
            <a:br/>
            <a:r>
              <a:t>• export_stm32.py</a:t>
            </a:r>
            <a:br/>
            <a:r>
              <a:t>• bridge.py &amp; dashboard/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⚡ Binaries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fsbl-v10.bin (Bootloader)</a:t>
            </a:r>
            <a:br/>
            <a:r>
              <a:t>• appli-v16.bin (Application)</a:t>
            </a:r>
            <a:br/>
            <a:r>
              <a:t>• network_atonbuf.xSPI2.bin</a:t>
            </a:r>
            <a:br/>
            <a:r>
              <a:t>• unlock.bin (flash utility)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📄 Documentation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operation_manual.docx</a:t>
            </a:r>
            <a:br/>
            <a:r>
              <a:t>• submission_manual.docx</a:t>
            </a:r>
            <a:br/>
            <a:r>
              <a:t>• presentation.pptx</a:t>
            </a:r>
            <a:br/>
            <a:r>
              <a:t>• Comprehensive README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  <a:latin typeface="Segoe UI"/>
              </a:rPr>
              <a:t>Advancing Railway Safety with </a:t>
            </a:r>
            <a:r>
              <a:rPr sz="2600" b="1">
                <a:solidFill>
                  <a:srgbClr val="3B82F6"/>
                </a:solidFill>
                <a:latin typeface="Segoe UI"/>
              </a:rPr>
              <a:t>Autonomous Edge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7432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🚆 Safety-Critical Impact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Enables 24/7 continuous track vigilance with zero reliance on cloud connectivity or cellular coverage.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27432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🧠 Cutting-Edge Edge AI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Demonstrates the power of STM32N6 Neural-ART NPU with sub-30ms INT8 YOLOv8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29000" cy="274320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B82F6"/>
                </a:solidFill>
                <a:latin typeface="Segoe UI"/>
              </a:defRPr>
            </a:pPr>
            <a:r>
              <a:t>⏱️ Industrial RTOS Standards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Built on μT-Kernel 3.0 to deliver rock-solid deterministic real-time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280160"/>
          </a:xfrm>
          <a:prstGeom prst="roundRect">
            <a:avLst/>
          </a:prstGeom>
          <a:solidFill>
            <a:srgbClr val="1E2A3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STM32N6570-DK · Neural-ART™ NPU · μT-Kernel 3.0 · YOLOv8n INT8</a:t>
            </a:r>
          </a:p>
          <a:p>
            <a:pPr algn="ctr"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Complete source code, pre-built flash binaries, documentation, and web dashboard included.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